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Bricolage Grotesque ExtraBold" charset="0"/>
      <p:regular r:id="rId14"/>
    </p:embeddedFont>
    <p:embeddedFont>
      <p:font typeface="Calibri" pitchFamily="34" charset="0"/>
      <p:regular r:id="rId15"/>
      <p:bold r:id="rId16"/>
      <p:italic r:id="rId17"/>
      <p:boldItalic r:id="rId18"/>
    </p:embeddedFont>
    <p:embeddedFont>
      <p:font typeface="Montserrat" charset="0"/>
      <p:regular r:id="rId19"/>
    </p:embeddedFont>
    <p:embeddedFont>
      <p:font typeface="微軟正黑體" pitchFamily="34" charset="-120"/>
      <p:regular r:id="rId20"/>
      <p:bold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-484" y="-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55B54-6BBE-4FB6-9E28-BA50693FB26E}" type="datetimeFigureOut">
              <a:rPr lang="zh-TW" altLang="en-US" smtClean="0"/>
              <a:t>2026/10/4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8A9DF-CA64-470E-9BAF-4D066A405F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346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91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90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hyperlink" Target="https://youtu.be/VGI0UjXVdNU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233612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5400" b="1" dirty="0">
                <a:solidFill>
                  <a:srgbClr val="EEAEF6"/>
                </a:solidFill>
                <a:latin typeface="微軟正黑體" pitchFamily="34" charset="-120"/>
                <a:ea typeface="微軟正黑體" pitchFamily="34" charset="-120"/>
                <a:cs typeface="Bricolage Grotesque ExtraBold" pitchFamily="34" charset="-120"/>
              </a:rPr>
              <a:t>我們與流量的距離</a:t>
            </a:r>
            <a:endParaRPr lang="zh-CN" sz="5400" b="1" dirty="0">
              <a:ea typeface="微軟正黑體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61475" y="3412430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3600" dirty="0">
                <a:solidFill>
                  <a:srgbClr val="FFD1A7"/>
                </a:solidFill>
                <a:latin typeface="微軟正黑體" pitchFamily="34" charset="-120"/>
                <a:ea typeface="微軟正黑體" pitchFamily="34" charset="-120"/>
                <a:cs typeface="Montserrat" pitchFamily="34" charset="-120"/>
              </a:rPr>
              <a:t>第四組</a:t>
            </a:r>
            <a:endParaRPr lang="zh-CN" sz="3600" dirty="0">
              <a:ea typeface="微軟正黑體" pitchFamily="34" charset="-120"/>
            </a:endParaRPr>
          </a:p>
        </p:txBody>
      </p:sp>
      <p:sp>
        <p:nvSpPr>
          <p:cNvPr id="5" name="Text 1"/>
          <p:cNvSpPr/>
          <p:nvPr/>
        </p:nvSpPr>
        <p:spPr>
          <a:xfrm>
            <a:off x="661475" y="428386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zh-CN" sz="145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2725241"/>
            <a:ext cx="3851258" cy="821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dist">
              <a:lnSpc>
                <a:spcPct val="104000"/>
              </a:lnSpc>
              <a:buNone/>
            </a:pPr>
            <a:r>
              <a:rPr lang="zh-CN" altLang="en-US" sz="5100" b="1" dirty="0" smtClean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  <a:cs typeface="Noto Color Emoji" pitchFamily="34" charset="-120"/>
              </a:rPr>
              <a:t>🎬</a:t>
            </a:r>
            <a:r>
              <a:rPr lang="zh-CN" altLang="en-US" sz="5100" b="1" dirty="0" smtClean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  <a:cs typeface="Bricolage Grotesque ExtraBold" pitchFamily="34" charset="-120"/>
              </a:rPr>
              <a:t> </a:t>
            </a:r>
            <a:r>
              <a:rPr lang="zh-CN" altLang="en-US" sz="5100" b="1" dirty="0" smtClean="0">
                <a:solidFill>
                  <a:srgbClr val="EEAEF6"/>
                </a:solidFill>
                <a:latin typeface="微軟正黑體" pitchFamily="34" charset="-120"/>
                <a:ea typeface="微軟正黑體" pitchFamily="34" charset="-120"/>
                <a:cs typeface="Bricolage Grotesque ExtraBold" pitchFamily="34" charset="-120"/>
              </a:rPr>
              <a:t>影片</a:t>
            </a:r>
            <a:r>
              <a:rPr lang="zh-TW" altLang="en-US" sz="5100" b="1" dirty="0" smtClean="0">
                <a:solidFill>
                  <a:srgbClr val="EEAEF6"/>
                </a:solidFill>
                <a:latin typeface="微軟正黑體" pitchFamily="34" charset="-120"/>
                <a:ea typeface="微軟正黑體" pitchFamily="34" charset="-120"/>
                <a:cs typeface="Bricolage Grotesque ExtraBold" pitchFamily="34" charset="-120"/>
              </a:rPr>
              <a:t>欣賞</a:t>
            </a:r>
            <a:endParaRPr lang="zh-CN" sz="5100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61475" y="3830241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450" u="sng" dirty="0" smtClean="0">
                <a:solidFill>
                  <a:srgbClr val="E5DCE6"/>
                </a:solidFill>
                <a:latin typeface="微軟正黑體" pitchFamily="34" charset="-120"/>
                <a:ea typeface="微軟正黑體" pitchFamily="34" charset="-120"/>
                <a:cs typeface="Montserrat" pitchFamily="34" charset="-120"/>
                <a:hlinkClick r:id="rId4"/>
              </a:rPr>
              <a:t>請觀賞以下影片，準備進入我們的故事。</a:t>
            </a:r>
            <a:endParaRPr lang="zh-CN" sz="1450" u="sng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672" y="2496741"/>
            <a:ext cx="1266825" cy="133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4" y="110344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3700" b="1" dirty="0">
                <a:solidFill>
                  <a:srgbClr val="EEAEF6"/>
                </a:solidFill>
                <a:latin typeface="微軟正黑體" pitchFamily="34" charset="-120"/>
                <a:ea typeface="微軟正黑體" pitchFamily="34" charset="-120"/>
                <a:cs typeface="Bricolage Grotesque ExtraBold" pitchFamily="34" charset="-120"/>
              </a:rPr>
              <a:t>我們是誰？</a:t>
            </a:r>
            <a:endParaRPr lang="zh-CN" sz="3700" b="1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39724"/>
            <a:ext cx="6903269" cy="391189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32251" y="3269655"/>
            <a:ext cx="3504219" cy="1221879"/>
          </a:xfrm>
          <a:prstGeom prst="roundRect">
            <a:avLst>
              <a:gd name="adj" fmla="val 6497"/>
            </a:avLst>
          </a:prstGeom>
          <a:solidFill>
            <a:srgbClr val="090E3F"/>
          </a:solidFill>
          <a:ln w="25399">
            <a:solidFill>
              <a:srgbClr val="41467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46658" y="3484066"/>
            <a:ext cx="3075407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zh-CN" altLang="en-US" sz="1850" b="1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  <a:cs typeface="Noto Color Emoji" pitchFamily="34" charset="-120"/>
              </a:rPr>
              <a:t>🎥</a:t>
            </a:r>
            <a:r>
              <a:rPr lang="zh-TW" altLang="en-US" sz="1850" b="1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  <a:cs typeface="Noto Color Emoji" pitchFamily="34" charset="-120"/>
              </a:rPr>
              <a:t> </a:t>
            </a:r>
            <a:r>
              <a:rPr lang="zh-CN" altLang="en-US" sz="1850" b="1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  <a:cs typeface="Bricolage Grotesque ExtraBold" pitchFamily="34" charset="-120"/>
              </a:rPr>
              <a:t>宋</a:t>
            </a:r>
            <a:r>
              <a:rPr lang="zh-CN" altLang="en-US" sz="185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  <a:cs typeface="Bricolage Grotesque ExtraBold" pitchFamily="34" charset="-120"/>
              </a:rPr>
              <a:t>喬安</a:t>
            </a:r>
            <a:endParaRPr lang="zh-CN" sz="1850" b="1" dirty="0">
              <a:solidFill>
                <a:schemeClr val="accent4">
                  <a:lumMod val="60000"/>
                  <a:lumOff val="40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246658" y="3974703"/>
            <a:ext cx="30754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zh-TW" altLang="en-US" sz="1450" dirty="0">
                <a:solidFill>
                  <a:srgbClr val="E5DCE6"/>
                </a:solidFill>
                <a:latin typeface="微軟正黑體" pitchFamily="34" charset="-120"/>
                <a:ea typeface="微軟正黑體" pitchFamily="34" charset="-120"/>
                <a:cs typeface="Montserrat" pitchFamily="34" charset="-120"/>
              </a:rPr>
              <a:t>香蕉新聞台主管</a:t>
            </a:r>
            <a:endParaRPr lang="zh-CN" sz="1450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032251" y="4680545"/>
            <a:ext cx="3504219" cy="1221879"/>
          </a:xfrm>
          <a:prstGeom prst="roundRect">
            <a:avLst>
              <a:gd name="adj" fmla="val 6497"/>
            </a:avLst>
          </a:prstGeom>
          <a:solidFill>
            <a:srgbClr val="090E3F"/>
          </a:solidFill>
          <a:ln w="25399">
            <a:solidFill>
              <a:srgbClr val="41467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46658" y="4894957"/>
            <a:ext cx="3075407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zh-CN" altLang="en-US" sz="185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  <a:cs typeface="Noto Color Emoji" pitchFamily="34" charset="-120"/>
              </a:rPr>
              <a:t>🔍</a:t>
            </a:r>
            <a:r>
              <a:rPr lang="zh-CN" altLang="en-US" sz="1850" b="1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  <a:cs typeface="Bricolage Grotesque ExtraBold" pitchFamily="34" charset="-120"/>
              </a:rPr>
              <a:t>林</a:t>
            </a:r>
            <a:r>
              <a:rPr lang="zh-CN" altLang="en-US" sz="185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  <a:cs typeface="Bricolage Grotesque ExtraBold" pitchFamily="34" charset="-120"/>
              </a:rPr>
              <a:t>知微</a:t>
            </a:r>
            <a:endParaRPr lang="zh-CN" sz="1850" b="1" dirty="0">
              <a:solidFill>
                <a:schemeClr val="accent4">
                  <a:lumMod val="60000"/>
                  <a:lumOff val="40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246658" y="5385594"/>
            <a:ext cx="30754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zh-TW" altLang="en-US" sz="1450" dirty="0">
                <a:solidFill>
                  <a:srgbClr val="E5DCE6"/>
                </a:solidFill>
                <a:latin typeface="微軟正黑體" pitchFamily="34" charset="-120"/>
                <a:ea typeface="微軟正黑體" pitchFamily="34" charset="-120"/>
                <a:cs typeface="Montserrat" pitchFamily="34" charset="-120"/>
              </a:rPr>
              <a:t>奇異果新聞社媒體創辦人</a:t>
            </a:r>
            <a:endParaRPr lang="zh-TW" altLang="en-US" sz="1450" dirty="0">
              <a:solidFill>
                <a:srgbClr val="E5DCE6"/>
              </a:solidFill>
              <a:latin typeface="微軟正黑體" pitchFamily="34" charset="-120"/>
              <a:ea typeface="微軟正黑體" pitchFamily="34" charset="-120"/>
              <a:cs typeface="Montserrat" pitchFamily="34" charset="-120"/>
            </a:endParaRPr>
          </a:p>
        </p:txBody>
      </p:sp>
      <p:sp>
        <p:nvSpPr>
          <p:cNvPr id="13" name="Shape 0"/>
          <p:cNvSpPr/>
          <p:nvPr/>
        </p:nvSpPr>
        <p:spPr>
          <a:xfrm>
            <a:off x="661474" y="516467"/>
            <a:ext cx="938726" cy="412617"/>
          </a:xfrm>
          <a:prstGeom prst="roundRect">
            <a:avLst>
              <a:gd name="adj" fmla="val 22118"/>
            </a:avLst>
          </a:prstGeom>
          <a:solidFill>
            <a:srgbClr val="3E0845"/>
          </a:solidFill>
          <a:ln/>
        </p:spPr>
      </p:sp>
      <p:sp>
        <p:nvSpPr>
          <p:cNvPr id="14" name="Text 1"/>
          <p:cNvSpPr/>
          <p:nvPr/>
        </p:nvSpPr>
        <p:spPr>
          <a:xfrm>
            <a:off x="774879" y="592667"/>
            <a:ext cx="943854" cy="27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zh-CN" altLang="en-US" dirty="0" smtClean="0">
                <a:solidFill>
                  <a:srgbClr val="E5DCE6"/>
                </a:solidFill>
                <a:latin typeface="微軟正黑體" pitchFamily="34" charset="-120"/>
                <a:ea typeface="微軟正黑體" pitchFamily="34" charset="-120"/>
                <a:cs typeface="Montserrat" pitchFamily="34" charset="-120"/>
              </a:rPr>
              <a:t>第</a:t>
            </a:r>
            <a:r>
              <a:rPr lang="zh-TW" altLang="en-US" dirty="0" smtClean="0">
                <a:solidFill>
                  <a:srgbClr val="E5DCE6"/>
                </a:solidFill>
                <a:latin typeface="微軟正黑體" pitchFamily="34" charset="-120"/>
                <a:ea typeface="微軟正黑體" pitchFamily="34" charset="-120"/>
                <a:cs typeface="Montserrat" pitchFamily="34" charset="-120"/>
              </a:rPr>
              <a:t>一</a:t>
            </a:r>
            <a:r>
              <a:rPr lang="zh-CN" altLang="en-US" dirty="0" smtClean="0">
                <a:solidFill>
                  <a:srgbClr val="E5DCE6"/>
                </a:solidFill>
                <a:latin typeface="微軟正黑體" pitchFamily="34" charset="-120"/>
                <a:ea typeface="微軟正黑體" pitchFamily="34" charset="-120"/>
                <a:cs typeface="Montserrat" pitchFamily="34" charset="-120"/>
              </a:rPr>
              <a:t>幕</a:t>
            </a:r>
            <a:endParaRPr lang="zh-CN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5" name="Shape 4"/>
          <p:cNvSpPr/>
          <p:nvPr/>
        </p:nvSpPr>
        <p:spPr>
          <a:xfrm>
            <a:off x="8032251" y="1838788"/>
            <a:ext cx="3504219" cy="1221879"/>
          </a:xfrm>
          <a:prstGeom prst="roundRect">
            <a:avLst>
              <a:gd name="adj" fmla="val 6497"/>
            </a:avLst>
          </a:prstGeom>
          <a:solidFill>
            <a:srgbClr val="090E3F"/>
          </a:solidFill>
          <a:ln w="25399">
            <a:solidFill>
              <a:srgbClr val="414677"/>
            </a:solidFill>
            <a:prstDash val="solid"/>
          </a:ln>
        </p:spPr>
      </p:sp>
      <p:sp>
        <p:nvSpPr>
          <p:cNvPr id="16" name="Text 5"/>
          <p:cNvSpPr/>
          <p:nvPr/>
        </p:nvSpPr>
        <p:spPr>
          <a:xfrm>
            <a:off x="8246658" y="2053199"/>
            <a:ext cx="3075407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zh-CN" altLang="en-US" sz="185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  <a:cs typeface="Noto Color Emoji" pitchFamily="34" charset="-120"/>
              </a:rPr>
              <a:t>📣</a:t>
            </a:r>
            <a:r>
              <a:rPr lang="zh-CN" altLang="en-US" sz="1850" b="1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  <a:cs typeface="Bricolage Grotesque ExtraBold" pitchFamily="34" charset="-120"/>
              </a:rPr>
              <a:t>王</a:t>
            </a:r>
            <a:r>
              <a:rPr lang="zh-CN" altLang="en-US" sz="185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  <a:cs typeface="Bricolage Grotesque ExtraBold" pitchFamily="34" charset="-120"/>
              </a:rPr>
              <a:t>赦</a:t>
            </a:r>
            <a:endParaRPr lang="zh-CN" sz="1850" b="1" dirty="0">
              <a:solidFill>
                <a:schemeClr val="accent4">
                  <a:lumMod val="60000"/>
                  <a:lumOff val="40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7" name="Text 6"/>
          <p:cNvSpPr/>
          <p:nvPr/>
        </p:nvSpPr>
        <p:spPr>
          <a:xfrm>
            <a:off x="8246658" y="2543836"/>
            <a:ext cx="30754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zh-TW" altLang="en-US" sz="1450" dirty="0">
                <a:solidFill>
                  <a:srgbClr val="E5DCE6"/>
                </a:solidFill>
                <a:latin typeface="微軟正黑體" pitchFamily="34" charset="-120"/>
                <a:ea typeface="微軟正黑體" pitchFamily="34" charset="-120"/>
                <a:cs typeface="Montserrat" pitchFamily="34" charset="-120"/>
              </a:rPr>
              <a:t>一名律師</a:t>
            </a:r>
            <a:endParaRPr lang="zh-CN" sz="1450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306" y="6353175"/>
            <a:ext cx="14478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36" y="1965861"/>
            <a:ext cx="40005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36" y="3369594"/>
            <a:ext cx="43815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611" y="4823886"/>
            <a:ext cx="381000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5" y="11767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3700" b="1" dirty="0">
                <a:solidFill>
                  <a:srgbClr val="EEAEF6"/>
                </a:solidFill>
                <a:latin typeface="微軟正黑體" pitchFamily="34" charset="-120"/>
                <a:ea typeface="微軟正黑體" pitchFamily="34" charset="-120"/>
                <a:cs typeface="Bricolage Grotesque ExtraBold" pitchFamily="34" charset="-120"/>
              </a:rPr>
              <a:t>一個新聞標題</a:t>
            </a:r>
            <a:endParaRPr lang="zh-CN" sz="3700" b="1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474" y="2091432"/>
            <a:ext cx="6903269" cy="3911898"/>
          </a:xfrm>
          <a:prstGeom prst="rect">
            <a:avLst/>
          </a:prstGeom>
        </p:spPr>
      </p:pic>
      <p:sp>
        <p:nvSpPr>
          <p:cNvPr id="11" name="Shape 0"/>
          <p:cNvSpPr/>
          <p:nvPr/>
        </p:nvSpPr>
        <p:spPr>
          <a:xfrm>
            <a:off x="661474" y="516467"/>
            <a:ext cx="938726" cy="412617"/>
          </a:xfrm>
          <a:prstGeom prst="roundRect">
            <a:avLst>
              <a:gd name="adj" fmla="val 22118"/>
            </a:avLst>
          </a:prstGeom>
          <a:solidFill>
            <a:srgbClr val="3E0845"/>
          </a:solidFill>
          <a:ln/>
        </p:spPr>
      </p:sp>
      <p:sp>
        <p:nvSpPr>
          <p:cNvPr id="12" name="Text 1"/>
          <p:cNvSpPr/>
          <p:nvPr/>
        </p:nvSpPr>
        <p:spPr>
          <a:xfrm>
            <a:off x="774879" y="592667"/>
            <a:ext cx="943854" cy="27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zh-CN" altLang="en-US" dirty="0" smtClean="0">
                <a:solidFill>
                  <a:srgbClr val="E5DCE6"/>
                </a:solidFill>
                <a:latin typeface="微軟正黑體" pitchFamily="34" charset="-120"/>
                <a:ea typeface="微軟正黑體" pitchFamily="34" charset="-120"/>
                <a:cs typeface="Montserrat" pitchFamily="34" charset="-120"/>
              </a:rPr>
              <a:t>第</a:t>
            </a:r>
            <a:r>
              <a:rPr lang="zh-TW" altLang="en-US" dirty="0">
                <a:solidFill>
                  <a:srgbClr val="E5DCE6"/>
                </a:solidFill>
                <a:latin typeface="微軟正黑體" pitchFamily="34" charset="-120"/>
                <a:ea typeface="微軟正黑體" pitchFamily="34" charset="-120"/>
                <a:cs typeface="Montserrat" pitchFamily="34" charset="-120"/>
              </a:rPr>
              <a:t>二</a:t>
            </a:r>
            <a:r>
              <a:rPr lang="zh-CN" altLang="en-US" dirty="0" smtClean="0">
                <a:solidFill>
                  <a:srgbClr val="E5DCE6"/>
                </a:solidFill>
                <a:latin typeface="微軟正黑體" pitchFamily="34" charset="-120"/>
                <a:ea typeface="微軟正黑體" pitchFamily="34" charset="-120"/>
                <a:cs typeface="Montserrat" pitchFamily="34" charset="-120"/>
              </a:rPr>
              <a:t>幕</a:t>
            </a:r>
            <a:endParaRPr lang="zh-CN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4200" y="6362228"/>
            <a:ext cx="14478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圖片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59" y="3012557"/>
            <a:ext cx="6208945" cy="2069648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710" y="4330149"/>
            <a:ext cx="6853473" cy="2284491"/>
          </a:xfrm>
          <a:prstGeom prst="rect">
            <a:avLst/>
          </a:prstGeom>
        </p:spPr>
      </p:pic>
      <p:pic>
        <p:nvPicPr>
          <p:cNvPr id="16" name="圖片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390" y="732548"/>
            <a:ext cx="9123874" cy="30412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59247"/>
            <a:ext cx="10868745" cy="4771231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661425" y="116859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3700" b="1" dirty="0">
                <a:solidFill>
                  <a:srgbClr val="EEAEF6"/>
                </a:solidFill>
                <a:latin typeface="微軟正黑體" pitchFamily="34" charset="-120"/>
                <a:ea typeface="微軟正黑體" pitchFamily="34" charset="-120"/>
                <a:cs typeface="Bricolage Grotesque ExtraBold" pitchFamily="34" charset="-120"/>
              </a:rPr>
              <a:t>30萬 vs 3萬</a:t>
            </a:r>
            <a:endParaRPr lang="zh-CN" sz="3700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718783" y="305157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zh-CN" altLang="en-US" sz="4900" dirty="0">
                <a:solidFill>
                  <a:srgbClr val="E5DCE6"/>
                </a:solidFill>
                <a:latin typeface="微軟正黑體" pitchFamily="34" charset="-120"/>
                <a:ea typeface="微軟正黑體" pitchFamily="34" charset="-120"/>
                <a:cs typeface="Bricolage Grotesque ExtraBold" pitchFamily="34" charset="-120"/>
              </a:rPr>
              <a:t>30萬</a:t>
            </a:r>
            <a:endParaRPr lang="zh-CN" sz="4900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718733" y="391150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E5DCE6"/>
                </a:solidFill>
                <a:latin typeface="微軟正黑體" pitchFamily="34" charset="-120"/>
                <a:ea typeface="微軟正黑體" pitchFamily="34" charset="-120"/>
                <a:cs typeface="Bricolage Grotesque ExtraBold" pitchFamily="34" charset="-120"/>
              </a:rPr>
              <a:t>高流量影片</a:t>
            </a:r>
            <a:endParaRPr lang="zh-CN" sz="1850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363135" y="3051572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zh-CN" altLang="en-US" sz="4900" dirty="0">
                <a:solidFill>
                  <a:srgbClr val="E5DCE6"/>
                </a:solidFill>
                <a:latin typeface="微軟正黑體" pitchFamily="34" charset="-120"/>
                <a:ea typeface="微軟正黑體" pitchFamily="34" charset="-120"/>
                <a:cs typeface="Bricolage Grotesque ExtraBold" pitchFamily="34" charset="-120"/>
              </a:rPr>
              <a:t>3萬</a:t>
            </a:r>
            <a:endParaRPr lang="zh-CN" sz="4900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63085" y="391150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E5DCE6"/>
                </a:solidFill>
                <a:latin typeface="微軟正黑體" pitchFamily="34" charset="-120"/>
                <a:ea typeface="微軟正黑體" pitchFamily="34" charset="-120"/>
                <a:cs typeface="Bricolage Grotesque ExtraBold" pitchFamily="34" charset="-120"/>
              </a:rPr>
              <a:t>普通影片</a:t>
            </a:r>
            <a:endParaRPr lang="zh-CN" sz="1850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096073" y="3051570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zh-CN" altLang="en-US" sz="4900" dirty="0">
                <a:solidFill>
                  <a:srgbClr val="E5DCE6"/>
                </a:solidFill>
                <a:latin typeface="微軟正黑體" pitchFamily="34" charset="-120"/>
                <a:ea typeface="微軟正黑體" pitchFamily="34" charset="-120"/>
                <a:cs typeface="Bricolage Grotesque ExtraBold" pitchFamily="34" charset="-120"/>
              </a:rPr>
              <a:t>10倍</a:t>
            </a:r>
            <a:endParaRPr lang="zh-CN" sz="4900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096024" y="391149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E5DCE6"/>
                </a:solidFill>
                <a:latin typeface="微軟正黑體" pitchFamily="34" charset="-120"/>
                <a:ea typeface="微軟正黑體" pitchFamily="34" charset="-120"/>
                <a:cs typeface="Bricolage Grotesque ExtraBold" pitchFamily="34" charset="-120"/>
              </a:rPr>
              <a:t>差距來源</a:t>
            </a:r>
            <a:endParaRPr lang="zh-CN" sz="1850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5" name="Shape 0"/>
          <p:cNvSpPr/>
          <p:nvPr/>
        </p:nvSpPr>
        <p:spPr>
          <a:xfrm>
            <a:off x="661474" y="516467"/>
            <a:ext cx="938726" cy="412617"/>
          </a:xfrm>
          <a:prstGeom prst="roundRect">
            <a:avLst>
              <a:gd name="adj" fmla="val 22118"/>
            </a:avLst>
          </a:prstGeom>
          <a:solidFill>
            <a:srgbClr val="3E0845"/>
          </a:solidFill>
          <a:ln/>
        </p:spPr>
      </p:sp>
      <p:sp>
        <p:nvSpPr>
          <p:cNvPr id="16" name="Text 1"/>
          <p:cNvSpPr/>
          <p:nvPr/>
        </p:nvSpPr>
        <p:spPr>
          <a:xfrm>
            <a:off x="774879" y="592667"/>
            <a:ext cx="943854" cy="27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zh-CN" altLang="en-US" dirty="0" smtClean="0">
                <a:solidFill>
                  <a:srgbClr val="E5DCE6"/>
                </a:solidFill>
                <a:latin typeface="微軟正黑體" pitchFamily="34" charset="-120"/>
                <a:ea typeface="微軟正黑體" pitchFamily="34" charset="-120"/>
                <a:cs typeface="Montserrat" pitchFamily="34" charset="-120"/>
              </a:rPr>
              <a:t>第</a:t>
            </a:r>
            <a:r>
              <a:rPr lang="zh-TW" altLang="en-US" dirty="0">
                <a:solidFill>
                  <a:srgbClr val="E5DCE6"/>
                </a:solidFill>
                <a:latin typeface="微軟正黑體" pitchFamily="34" charset="-120"/>
                <a:ea typeface="微軟正黑體" pitchFamily="34" charset="-120"/>
                <a:cs typeface="Montserrat" pitchFamily="34" charset="-120"/>
              </a:rPr>
              <a:t>三</a:t>
            </a:r>
            <a:r>
              <a:rPr lang="zh-CN" altLang="en-US" dirty="0" smtClean="0">
                <a:solidFill>
                  <a:srgbClr val="E5DCE6"/>
                </a:solidFill>
                <a:latin typeface="微軟正黑體" pitchFamily="34" charset="-120"/>
                <a:ea typeface="微軟正黑體" pitchFamily="34" charset="-120"/>
                <a:cs typeface="Montserrat" pitchFamily="34" charset="-120"/>
              </a:rPr>
              <a:t>幕</a:t>
            </a:r>
            <a:endParaRPr lang="zh-CN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4200" y="6353175"/>
            <a:ext cx="14478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圖片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931154"/>
            <a:ext cx="10058400" cy="335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4" y="1129058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TW" altLang="en-US" sz="3500" b="1" dirty="0" smtClean="0">
                <a:solidFill>
                  <a:srgbClr val="EEAEF6"/>
                </a:solidFill>
                <a:latin typeface="微軟正黑體" pitchFamily="34" charset="-120"/>
                <a:ea typeface="微軟正黑體" pitchFamily="34" charset="-120"/>
                <a:cs typeface="Bricolage Grotesque ExtraBold" pitchFamily="34" charset="-120"/>
              </a:rPr>
              <a:t>沒有人負責的傷害</a:t>
            </a:r>
            <a:endParaRPr lang="zh-CN" sz="3500" b="1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52340"/>
            <a:ext cx="6910810" cy="3916164"/>
          </a:xfrm>
          <a:prstGeom prst="rect">
            <a:avLst/>
          </a:prstGeom>
        </p:spPr>
      </p:pic>
      <p:sp>
        <p:nvSpPr>
          <p:cNvPr id="16" name="Shape 0"/>
          <p:cNvSpPr/>
          <p:nvPr/>
        </p:nvSpPr>
        <p:spPr>
          <a:xfrm>
            <a:off x="661474" y="516467"/>
            <a:ext cx="938726" cy="412617"/>
          </a:xfrm>
          <a:prstGeom prst="roundRect">
            <a:avLst>
              <a:gd name="adj" fmla="val 22118"/>
            </a:avLst>
          </a:prstGeom>
          <a:solidFill>
            <a:srgbClr val="3E0845"/>
          </a:solidFill>
          <a:ln/>
        </p:spPr>
      </p:sp>
      <p:sp>
        <p:nvSpPr>
          <p:cNvPr id="17" name="Text 1"/>
          <p:cNvSpPr/>
          <p:nvPr/>
        </p:nvSpPr>
        <p:spPr>
          <a:xfrm>
            <a:off x="774879" y="592667"/>
            <a:ext cx="943854" cy="27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zh-CN" altLang="en-US" dirty="0" smtClean="0">
                <a:solidFill>
                  <a:srgbClr val="E5DCE6"/>
                </a:solidFill>
                <a:latin typeface="微軟正黑體" pitchFamily="34" charset="-120"/>
                <a:ea typeface="微軟正黑體" pitchFamily="34" charset="-120"/>
                <a:cs typeface="Montserrat" pitchFamily="34" charset="-120"/>
              </a:rPr>
              <a:t>第</a:t>
            </a:r>
            <a:r>
              <a:rPr lang="zh-TW" altLang="en-US" dirty="0">
                <a:solidFill>
                  <a:srgbClr val="E5DCE6"/>
                </a:solidFill>
                <a:latin typeface="微軟正黑體" pitchFamily="34" charset="-120"/>
                <a:ea typeface="微軟正黑體" pitchFamily="34" charset="-120"/>
                <a:cs typeface="Montserrat" pitchFamily="34" charset="-120"/>
              </a:rPr>
              <a:t>四</a:t>
            </a:r>
            <a:r>
              <a:rPr lang="zh-CN" altLang="en-US" dirty="0" smtClean="0">
                <a:solidFill>
                  <a:srgbClr val="E5DCE6"/>
                </a:solidFill>
                <a:latin typeface="微軟正黑體" pitchFamily="34" charset="-120"/>
                <a:ea typeface="微軟正黑體" pitchFamily="34" charset="-120"/>
                <a:cs typeface="Montserrat" pitchFamily="34" charset="-120"/>
              </a:rPr>
              <a:t>幕</a:t>
            </a:r>
            <a:endParaRPr lang="zh-CN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4200" y="6353175"/>
            <a:ext cx="14478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圖片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254" y="53447"/>
            <a:ext cx="8437830" cy="2812610"/>
          </a:xfrm>
          <a:prstGeom prst="rect">
            <a:avLst/>
          </a:prstGeom>
        </p:spPr>
      </p:pic>
      <p:pic>
        <p:nvPicPr>
          <p:cNvPr id="20" name="圖片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924" y="2474017"/>
            <a:ext cx="9732475" cy="3244158"/>
          </a:xfrm>
          <a:prstGeom prst="rect">
            <a:avLst/>
          </a:prstGeom>
        </p:spPr>
      </p:pic>
      <p:pic>
        <p:nvPicPr>
          <p:cNvPr id="22" name="圖片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045" y="902888"/>
            <a:ext cx="9090793" cy="3030264"/>
          </a:xfrm>
          <a:prstGeom prst="rect">
            <a:avLst/>
          </a:prstGeom>
        </p:spPr>
      </p:pic>
      <p:pic>
        <p:nvPicPr>
          <p:cNvPr id="19" name="圖片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709" y="3997183"/>
            <a:ext cx="7825212" cy="26084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5506" y="3150261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zh-CN" altLang="en-US" sz="4000" b="1" dirty="0">
                <a:solidFill>
                  <a:srgbClr val="EEAEF6"/>
                </a:solidFill>
                <a:latin typeface="微軟正黑體" pitchFamily="34" charset="-120"/>
                <a:ea typeface="微軟正黑體" pitchFamily="34" charset="-120"/>
                <a:cs typeface="Bricolage Grotesque ExtraBold" pitchFamily="34" charset="-120"/>
              </a:rPr>
              <a:t>我們與流量的距離</a:t>
            </a:r>
            <a:endParaRPr lang="zh-CN" sz="4000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3" name="Shape 0"/>
          <p:cNvSpPr/>
          <p:nvPr/>
        </p:nvSpPr>
        <p:spPr>
          <a:xfrm>
            <a:off x="5510516" y="2497262"/>
            <a:ext cx="938726" cy="412617"/>
          </a:xfrm>
          <a:prstGeom prst="roundRect">
            <a:avLst>
              <a:gd name="adj" fmla="val 22118"/>
            </a:avLst>
          </a:prstGeom>
          <a:solidFill>
            <a:srgbClr val="3E0845"/>
          </a:solidFill>
          <a:ln/>
        </p:spPr>
      </p:sp>
      <p:sp>
        <p:nvSpPr>
          <p:cNvPr id="14" name="Text 1"/>
          <p:cNvSpPr/>
          <p:nvPr/>
        </p:nvSpPr>
        <p:spPr>
          <a:xfrm>
            <a:off x="5623921" y="2573462"/>
            <a:ext cx="943854" cy="27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zh-CN" altLang="en-US" dirty="0" smtClean="0">
                <a:solidFill>
                  <a:srgbClr val="E5DCE6"/>
                </a:solidFill>
                <a:latin typeface="微軟正黑體" pitchFamily="34" charset="-120"/>
                <a:ea typeface="微軟正黑體" pitchFamily="34" charset="-120"/>
                <a:cs typeface="Montserrat" pitchFamily="34" charset="-120"/>
              </a:rPr>
              <a:t>第</a:t>
            </a:r>
            <a:r>
              <a:rPr lang="zh-TW" altLang="en-US" dirty="0">
                <a:solidFill>
                  <a:srgbClr val="E5DCE6"/>
                </a:solidFill>
                <a:latin typeface="微軟正黑體" pitchFamily="34" charset="-120"/>
                <a:ea typeface="微軟正黑體" pitchFamily="34" charset="-120"/>
                <a:cs typeface="Montserrat" pitchFamily="34" charset="-120"/>
              </a:rPr>
              <a:t>五</a:t>
            </a:r>
            <a:r>
              <a:rPr lang="zh-CN" altLang="en-US" dirty="0" smtClean="0">
                <a:solidFill>
                  <a:srgbClr val="E5DCE6"/>
                </a:solidFill>
                <a:latin typeface="微軟正黑體" pitchFamily="34" charset="-120"/>
                <a:ea typeface="微軟正黑體" pitchFamily="34" charset="-120"/>
                <a:cs typeface="Montserrat" pitchFamily="34" charset="-120"/>
              </a:rPr>
              <a:t>幕</a:t>
            </a:r>
            <a:endParaRPr lang="zh-CN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4200" y="6353175"/>
            <a:ext cx="14478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圖片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648" y="2379923"/>
            <a:ext cx="10058400" cy="335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1210" y="0"/>
                </a:lnTo>
                <a:lnTo>
                  <a:pt x="92090" y="2640"/>
                </a:lnTo>
                <a:lnTo>
                  <a:pt x="93070" y="7030"/>
                </a:lnTo>
                <a:lnTo>
                  <a:pt x="93650" y="11330"/>
                </a:lnTo>
                <a:lnTo>
                  <a:pt x="93850" y="14750"/>
                </a:lnTo>
                <a:lnTo>
                  <a:pt x="93460" y="21970"/>
                </a:lnTo>
                <a:lnTo>
                  <a:pt x="91990" y="31150"/>
                </a:lnTo>
                <a:lnTo>
                  <a:pt x="91410" y="36520"/>
                </a:lnTo>
                <a:lnTo>
                  <a:pt x="91210" y="40040"/>
                </a:lnTo>
                <a:lnTo>
                  <a:pt x="91310" y="45700"/>
                </a:lnTo>
                <a:lnTo>
                  <a:pt x="91890" y="48930"/>
                </a:lnTo>
                <a:lnTo>
                  <a:pt x="93160" y="52540"/>
                </a:lnTo>
                <a:lnTo>
                  <a:pt x="94920" y="56050"/>
                </a:lnTo>
                <a:lnTo>
                  <a:pt x="97170" y="59860"/>
                </a:lnTo>
                <a:lnTo>
                  <a:pt x="98730" y="63280"/>
                </a:lnTo>
                <a:lnTo>
                  <a:pt x="99800" y="67290"/>
                </a:lnTo>
                <a:lnTo>
                  <a:pt x="100000" y="71480"/>
                </a:lnTo>
                <a:lnTo>
                  <a:pt x="99710" y="73630"/>
                </a:lnTo>
                <a:lnTo>
                  <a:pt x="99020" y="76460"/>
                </a:lnTo>
                <a:lnTo>
                  <a:pt x="97750" y="80180"/>
                </a:lnTo>
                <a:lnTo>
                  <a:pt x="96390" y="83400"/>
                </a:lnTo>
                <a:lnTo>
                  <a:pt x="91890" y="91990"/>
                </a:lnTo>
                <a:lnTo>
                  <a:pt x="89450" y="96000"/>
                </a:lnTo>
                <a:lnTo>
                  <a:pt x="8672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5" name="Text 2"/>
          <p:cNvSpPr/>
          <p:nvPr/>
        </p:nvSpPr>
        <p:spPr>
          <a:xfrm>
            <a:off x="5233360" y="355858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3700" b="1" dirty="0">
                <a:solidFill>
                  <a:srgbClr val="EEAEF6"/>
                </a:solidFill>
                <a:latin typeface="微軟正黑體" pitchFamily="34" charset="-120"/>
                <a:ea typeface="微軟正黑體" pitchFamily="34" charset="-120"/>
                <a:cs typeface="Bricolage Grotesque ExtraBold" pitchFamily="34" charset="-120"/>
              </a:rPr>
              <a:t>距離，是可以被縮短的</a:t>
            </a:r>
            <a:endParaRPr lang="zh-CN" sz="3700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7" name="Shape 0"/>
          <p:cNvSpPr/>
          <p:nvPr/>
        </p:nvSpPr>
        <p:spPr>
          <a:xfrm>
            <a:off x="5233360" y="2862237"/>
            <a:ext cx="678553" cy="412617"/>
          </a:xfrm>
          <a:prstGeom prst="roundRect">
            <a:avLst>
              <a:gd name="adj" fmla="val 22118"/>
            </a:avLst>
          </a:prstGeom>
          <a:solidFill>
            <a:srgbClr val="3E0845"/>
          </a:solidFill>
          <a:ln/>
        </p:spPr>
      </p:sp>
      <p:sp>
        <p:nvSpPr>
          <p:cNvPr id="18" name="Text 1"/>
          <p:cNvSpPr/>
          <p:nvPr/>
        </p:nvSpPr>
        <p:spPr>
          <a:xfrm>
            <a:off x="5346765" y="2938437"/>
            <a:ext cx="943854" cy="27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zh-TW" altLang="en-US" dirty="0">
                <a:solidFill>
                  <a:srgbClr val="E5DCE6"/>
                </a:solidFill>
                <a:latin typeface="微軟正黑體" pitchFamily="34" charset="-120"/>
                <a:ea typeface="微軟正黑體" pitchFamily="34" charset="-120"/>
              </a:rPr>
              <a:t>結局</a:t>
            </a:r>
            <a:endParaRPr lang="zh-CN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4200" y="6353175"/>
            <a:ext cx="14478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1210" y="0"/>
                </a:lnTo>
                <a:lnTo>
                  <a:pt x="92090" y="2640"/>
                </a:lnTo>
                <a:lnTo>
                  <a:pt x="93070" y="7030"/>
                </a:lnTo>
                <a:lnTo>
                  <a:pt x="93650" y="11330"/>
                </a:lnTo>
                <a:lnTo>
                  <a:pt x="93850" y="14750"/>
                </a:lnTo>
                <a:lnTo>
                  <a:pt x="93460" y="21970"/>
                </a:lnTo>
                <a:lnTo>
                  <a:pt x="91990" y="31150"/>
                </a:lnTo>
                <a:lnTo>
                  <a:pt x="91410" y="36520"/>
                </a:lnTo>
                <a:lnTo>
                  <a:pt x="91210" y="40040"/>
                </a:lnTo>
                <a:lnTo>
                  <a:pt x="91310" y="45700"/>
                </a:lnTo>
                <a:lnTo>
                  <a:pt x="91890" y="48930"/>
                </a:lnTo>
                <a:lnTo>
                  <a:pt x="93160" y="52540"/>
                </a:lnTo>
                <a:lnTo>
                  <a:pt x="94920" y="56050"/>
                </a:lnTo>
                <a:lnTo>
                  <a:pt x="97170" y="59860"/>
                </a:lnTo>
                <a:lnTo>
                  <a:pt x="98730" y="63280"/>
                </a:lnTo>
                <a:lnTo>
                  <a:pt x="99800" y="67290"/>
                </a:lnTo>
                <a:lnTo>
                  <a:pt x="100000" y="71480"/>
                </a:lnTo>
                <a:lnTo>
                  <a:pt x="99710" y="73630"/>
                </a:lnTo>
                <a:lnTo>
                  <a:pt x="99020" y="76460"/>
                </a:lnTo>
                <a:lnTo>
                  <a:pt x="97750" y="80180"/>
                </a:lnTo>
                <a:lnTo>
                  <a:pt x="96390" y="83400"/>
                </a:lnTo>
                <a:lnTo>
                  <a:pt x="91890" y="91990"/>
                </a:lnTo>
                <a:lnTo>
                  <a:pt x="89450" y="96000"/>
                </a:lnTo>
                <a:lnTo>
                  <a:pt x="8672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3018234"/>
            <a:ext cx="6296860" cy="821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TW" altLang="en-US" sz="5100" dirty="0" smtClean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　　</a:t>
            </a:r>
            <a:r>
              <a:rPr lang="zh-CN" altLang="en-US" sz="5100" dirty="0" smtClean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Kahoot </a:t>
            </a:r>
            <a:r>
              <a:rPr lang="zh-CN" altLang="en-US" sz="5100" b="1" dirty="0">
                <a:solidFill>
                  <a:srgbClr val="EEAEF6"/>
                </a:solidFill>
                <a:latin typeface="微軟正黑體" pitchFamily="34" charset="-120"/>
                <a:ea typeface="微軟正黑體" pitchFamily="34" charset="-120"/>
                <a:cs typeface="Bricolage Grotesque ExtraBold" pitchFamily="34" charset="-120"/>
              </a:rPr>
              <a:t>時間</a:t>
            </a:r>
            <a:endParaRPr lang="zh-CN" sz="5100" b="1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4200" y="6353175"/>
            <a:ext cx="14478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0531" y="2790825"/>
            <a:ext cx="1143000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2607469"/>
            <a:ext cx="6296860" cy="821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5100" dirty="0">
                <a:solidFill>
                  <a:srgbClr val="FFFF00"/>
                </a:solidFill>
                <a:latin typeface="微軟正黑體" pitchFamily="34" charset="-120"/>
                <a:ea typeface="微軟正黑體" pitchFamily="34" charset="-120"/>
                <a:cs typeface="Noto Color Emoji" pitchFamily="34" charset="-120"/>
              </a:rPr>
              <a:t>🏆</a:t>
            </a:r>
            <a:r>
              <a:rPr lang="zh-CN" altLang="en-US" sz="5100" dirty="0">
                <a:solidFill>
                  <a:srgbClr val="FFFF00"/>
                </a:solidFill>
                <a:latin typeface="微軟正黑體" pitchFamily="34" charset="-120"/>
                <a:ea typeface="微軟正黑體" pitchFamily="34" charset="-120"/>
                <a:cs typeface="Bricolage Grotesque ExtraBold" pitchFamily="34" charset="-120"/>
              </a:rPr>
              <a:t> </a:t>
            </a:r>
            <a:r>
              <a:rPr lang="zh-CN" altLang="en-US" sz="5100" dirty="0">
                <a:solidFill>
                  <a:srgbClr val="EEAEF6"/>
                </a:solidFill>
                <a:latin typeface="微軟正黑體" pitchFamily="34" charset="-120"/>
                <a:ea typeface="微軟正黑體" pitchFamily="34" charset="-120"/>
                <a:cs typeface="Bricolage Grotesque ExtraBold" pitchFamily="34" charset="-120"/>
              </a:rPr>
              <a:t>頒獎時間</a:t>
            </a:r>
            <a:endParaRPr lang="zh-CN" sz="5100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0612" y="3716670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E5DCE6"/>
                </a:solidFill>
                <a:latin typeface="微軟正黑體" pitchFamily="34" charset="-120"/>
                <a:ea typeface="微軟正黑體" pitchFamily="34" charset="-120"/>
                <a:cs typeface="Montserrat" pitchFamily="34" charset="-120"/>
              </a:rPr>
              <a:t>恭喜所有參與者！現在是屬於贏家的時刻。</a:t>
            </a:r>
            <a:endParaRPr lang="zh-CN" sz="1450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31" y="2434925"/>
            <a:ext cx="981075" cy="108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3022" y="282407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zh-CN" altLang="en-US" sz="8000" b="1" dirty="0" smtClean="0">
                <a:solidFill>
                  <a:srgbClr val="EEAEF6"/>
                </a:solidFill>
                <a:latin typeface="微軟正黑體" pitchFamily="34" charset="-120"/>
                <a:ea typeface="微軟正黑體" pitchFamily="34" charset="-120"/>
                <a:cs typeface="Bricolage Grotesque ExtraBold" pitchFamily="34" charset="-120"/>
              </a:rPr>
              <a:t>謝謝</a:t>
            </a:r>
            <a:r>
              <a:rPr lang="zh-CN" altLang="en-US" sz="8000" b="1" dirty="0">
                <a:solidFill>
                  <a:srgbClr val="EEAEF6"/>
                </a:solidFill>
                <a:latin typeface="微軟正黑體" pitchFamily="34" charset="-120"/>
                <a:ea typeface="微軟正黑體" pitchFamily="34" charset="-120"/>
                <a:cs typeface="Bricolage Grotesque ExtraBold" pitchFamily="34" charset="-120"/>
              </a:rPr>
              <a:t>大家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4200" y="6353175"/>
            <a:ext cx="14478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7530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125</Words>
  <Application>Microsoft Office PowerPoint</Application>
  <PresentationFormat>自訂</PresentationFormat>
  <Paragraphs>42</Paragraphs>
  <Slides>11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20" baseType="lpstr">
      <vt:lpstr>Arial</vt:lpstr>
      <vt:lpstr>新細明體</vt:lpstr>
      <vt:lpstr>Bricolage Grotesque ExtraBold</vt:lpstr>
      <vt:lpstr>Calibri</vt:lpstr>
      <vt:lpstr>Montserrat</vt:lpstr>
      <vt:lpstr>微軟正黑體</vt:lpstr>
      <vt:lpstr>Noto Color Emoji</vt:lpstr>
      <vt:lpstr>等线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lastModifiedBy>user</cp:lastModifiedBy>
  <cp:revision>14</cp:revision>
  <dcterms:created xsi:type="dcterms:W3CDTF">2026-10-03T19:50:25Z</dcterms:created>
  <dcterms:modified xsi:type="dcterms:W3CDTF">2026-10-04T01:39:13Z</dcterms:modified>
</cp:coreProperties>
</file>